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4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90" y="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itkara Layout">
  <p:cSld name="Chitkara Layou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dt" idx="10"/>
          </p:nvPr>
        </p:nvSpPr>
        <p:spPr>
          <a:xfrm>
            <a:off x="69633" y="6562107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"/>
          <p:cNvSpPr txBox="1">
            <a:spLocks noGrp="1"/>
          </p:cNvSpPr>
          <p:nvPr>
            <p:ph type="ftr" idx="11"/>
          </p:nvPr>
        </p:nvSpPr>
        <p:spPr>
          <a:xfrm>
            <a:off x="3124079" y="6566396"/>
            <a:ext cx="3577504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"/>
          <p:cNvSpPr txBox="1">
            <a:spLocks noGrp="1"/>
          </p:cNvSpPr>
          <p:nvPr>
            <p:ph type="sldNum" idx="12"/>
          </p:nvPr>
        </p:nvSpPr>
        <p:spPr>
          <a:xfrm>
            <a:off x="7010640" y="6562107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 rot="10800000" flipH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" descr="LOGO.gif"/>
          <p:cNvPicPr preferRelativeResize="0"/>
          <p:nvPr/>
        </p:nvPicPr>
        <p:blipFill rotWithShape="1">
          <a:blip r:embed="rId5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OGO.gif"/>
          <p:cNvPicPr preferRelativeResize="0"/>
          <p:nvPr/>
        </p:nvPicPr>
        <p:blipFill rotWithShape="1">
          <a:blip r:embed="rId5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" name="Google Shape;16;p1" descr="LOGO.gif"/>
            <p:cNvPicPr preferRelativeResize="0"/>
            <p:nvPr/>
          </p:nvPicPr>
          <p:blipFill rotWithShape="1">
            <a:blip r:embed="rId5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1" descr="logo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LOGO.gif"/>
          <p:cNvPicPr preferRelativeResize="0"/>
          <p:nvPr/>
        </p:nvPicPr>
        <p:blipFill rotWithShape="1">
          <a:blip r:embed="rId5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" name="Google Shape;22;p1" descr="LOGO.gif"/>
            <p:cNvPicPr preferRelativeResize="0"/>
            <p:nvPr/>
          </p:nvPicPr>
          <p:blipFill rotWithShape="1">
            <a:blip r:embed="rId5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" name="Google Shape;24;p1" descr="logo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47427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 txBox="1"/>
          <p:nvPr/>
        </p:nvSpPr>
        <p:spPr>
          <a:xfrm>
            <a:off x="0" y="1287525"/>
            <a:ext cx="9144000" cy="491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(Module-1)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dirty="0"/>
          </a:p>
          <a:p>
            <a:pPr lvl="0" algn="ctr">
              <a:spcBef>
                <a:spcPts val="800"/>
              </a:spcBef>
            </a:pPr>
            <a:r>
              <a:rPr lang="en-IN" sz="3600" dirty="0"/>
              <a:t>Automated Version Management Large-Scale Python </a:t>
            </a:r>
            <a:r>
              <a:rPr lang="en-IN" sz="3600" dirty="0" err="1"/>
              <a:t>Monorepos</a:t>
            </a:r>
            <a:r>
              <a:rPr lang="en-IN" sz="3600" dirty="0"/>
              <a:t> </a:t>
            </a:r>
          </a:p>
          <a:p>
            <a:pPr lvl="0" algn="ctr">
              <a:spcBef>
                <a:spcPts val="800"/>
              </a:spcBef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Divyanshu Sharma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2210991538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dirty="0"/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Preeti Saini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Department of computer science and engineering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/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Chitkara University of Institute of engineering and Technology , Chitkara University , Punjab ,India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89483-8BA7-0B03-2D4D-328F43C0C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5380A12-397C-8CF4-7573-DA9B47D247E9}"/>
              </a:ext>
            </a:extLst>
          </p:cNvPr>
          <p:cNvSpPr txBox="1">
            <a:spLocks/>
          </p:cNvSpPr>
          <p:nvPr/>
        </p:nvSpPr>
        <p:spPr>
          <a:xfrm>
            <a:off x="319211" y="1108455"/>
            <a:ext cx="6779857" cy="47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/>
              <a:t>Centralized Version Orchestration for Python </a:t>
            </a:r>
            <a:r>
              <a:rPr lang="en-US" sz="2000" dirty="0" err="1"/>
              <a:t>Monorepos</a:t>
            </a:r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E7E56-3564-7078-2A4C-76F471C9EED9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73244" y="1850153"/>
            <a:ext cx="8429934" cy="33384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/>
              <a:t>Challenges of Distributed Versioning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200" dirty="0"/>
              <a:t>Distributed semantic versioning causes version drift, merge conflicts, and unstable CI/CD in large Python </a:t>
            </a:r>
            <a:r>
              <a:rPr lang="en-US" sz="1200" dirty="0" err="1"/>
              <a:t>monorepos</a:t>
            </a:r>
            <a:r>
              <a:rPr lang="en-US" sz="1200" dirty="0"/>
              <a:t>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/>
              <a:t>Centralized Version Orchestration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200" dirty="0"/>
              <a:t>A single authoritative repository-level version is used, injecting correct release versions dynamically during build time.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/>
              <a:t>Empirical Evaluation Results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200" dirty="0"/>
              <a:t>Centralized orchestration reduced merge conflicts by 87%, improved build reproducibility to over 98%, and sped up pipelines.</a:t>
            </a:r>
          </a:p>
        </p:txBody>
      </p:sp>
    </p:spTree>
    <p:extLst>
      <p:ext uri="{BB962C8B-B14F-4D97-AF65-F5344CB8AC3E}">
        <p14:creationId xmlns:p14="http://schemas.microsoft.com/office/powerpoint/2010/main" val="126498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63563-157F-F8C1-8363-8B134A5F495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1800"/>
            </a:pPr>
            <a:r>
              <a:rPr lang="en-US" sz="2400" b="0" i="0" u="none" strike="noStrike" cap="none">
                <a:solidFill>
                  <a:schemeClr val="dk1"/>
                </a:solidFill>
              </a:rPr>
              <a:t>Challenges of Distributed Versioning in Monorepos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E7029A9-E464-7EA5-093C-464FEC97DF61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0" y="1028219"/>
            <a:ext cx="8616142" cy="504422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2500"/>
              </a:spcBef>
              <a:buFont typeface="Arial"/>
              <a:buNone/>
            </a:pPr>
            <a:r>
              <a:rPr lang="en-IN" b="1" dirty="0"/>
              <a:t>Complex Version Management</a:t>
            </a:r>
          </a:p>
          <a:p>
            <a:pPr marL="0" lvl="1" indent="0">
              <a:buFont typeface="Arial"/>
              <a:buNone/>
            </a:pPr>
            <a:r>
              <a:rPr lang="en-IN" dirty="0" err="1"/>
              <a:t>Monorepos</a:t>
            </a:r>
            <a:r>
              <a:rPr lang="en-IN" dirty="0"/>
              <a:t> simplify code sharing but complicate versioning with independent semantic versioning per package.</a:t>
            </a:r>
          </a:p>
          <a:p>
            <a:pPr marL="0" indent="0">
              <a:spcBef>
                <a:spcPts val="2500"/>
              </a:spcBef>
              <a:buFont typeface="Arial"/>
              <a:buNone/>
            </a:pPr>
            <a:r>
              <a:rPr lang="en-IN" b="1" dirty="0"/>
              <a:t>Non-deterministic CI/CD </a:t>
            </a:r>
            <a:r>
              <a:rPr lang="en-IN" b="1" dirty="0" err="1"/>
              <a:t>Behavior</a:t>
            </a:r>
            <a:endParaRPr lang="en-IN" b="1" dirty="0"/>
          </a:p>
          <a:p>
            <a:pPr marL="0" lvl="1" indent="0">
              <a:buFont typeface="Arial"/>
              <a:buNone/>
            </a:pPr>
            <a:r>
              <a:rPr lang="en-IN" dirty="0"/>
              <a:t>Independent package updates cause variable dependency resolution and inconsistent build outcomes in pipelines.</a:t>
            </a:r>
          </a:p>
          <a:p>
            <a:pPr marL="0" indent="0">
              <a:spcBef>
                <a:spcPts val="2500"/>
              </a:spcBef>
              <a:buFont typeface="Arial"/>
              <a:buNone/>
            </a:pPr>
            <a:r>
              <a:rPr lang="en-IN" b="1" dirty="0"/>
              <a:t>Manual Version Coordination Burden</a:t>
            </a:r>
          </a:p>
          <a:p>
            <a:pPr marL="0" lvl="1" indent="0">
              <a:buFont typeface="Arial"/>
              <a:buNone/>
            </a:pPr>
            <a:r>
              <a:rPr lang="en-IN" dirty="0"/>
              <a:t>Release engineers manually align dozens of package versions, causing time-consuming merge conflicts and errors.</a:t>
            </a:r>
          </a:p>
          <a:p>
            <a:pPr marL="0" indent="0">
              <a:spcBef>
                <a:spcPts val="2500"/>
              </a:spcBef>
              <a:buFont typeface="Arial"/>
              <a:buNone/>
            </a:pPr>
            <a:r>
              <a:rPr lang="en-IN" b="1" dirty="0"/>
              <a:t>Impact on Code Review and Development</a:t>
            </a:r>
          </a:p>
          <a:p>
            <a:pPr marL="0" lvl="1" indent="0">
              <a:buFont typeface="Arial"/>
              <a:buNone/>
            </a:pPr>
            <a:r>
              <a:rPr lang="en-IN" dirty="0"/>
              <a:t>Frequent version commits overwhelm reviews and divert developer focus from features and quality improvements.</a:t>
            </a:r>
          </a:p>
        </p:txBody>
      </p:sp>
    </p:spTree>
    <p:extLst>
      <p:ext uri="{BB962C8B-B14F-4D97-AF65-F5344CB8AC3E}">
        <p14:creationId xmlns:p14="http://schemas.microsoft.com/office/powerpoint/2010/main" val="373717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7C1F8-1C70-55A9-15D9-1334D0E63630}"/>
              </a:ext>
            </a:extLst>
          </p:cNvPr>
          <p:cNvSpPr txBox="1">
            <a:spLocks/>
          </p:cNvSpPr>
          <p:nvPr/>
        </p:nvSpPr>
        <p:spPr>
          <a:xfrm>
            <a:off x="0" y="1142469"/>
            <a:ext cx="5423282" cy="688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1800"/>
            </a:pPr>
            <a:r>
              <a:rPr lang="en-US" sz="2400" b="0" i="0" u="none" strike="noStrike" cap="none" dirty="0" err="1">
                <a:solidFill>
                  <a:schemeClr val="dk1"/>
                </a:solidFill>
              </a:rPr>
              <a:t>Monorepo</a:t>
            </a:r>
            <a:r>
              <a:rPr lang="en-US" sz="2400" b="0" i="0" u="none" strike="noStrike" cap="none" dirty="0">
                <a:solidFill>
                  <a:schemeClr val="dk1"/>
                </a:solidFill>
              </a:rPr>
              <a:t> Practices, Packaging, and CI/CD </a:t>
            </a:r>
            <a:r>
              <a:rPr lang="en-US" sz="2400" b="0" i="0" u="none" strike="noStrike" cap="none" dirty="0" err="1">
                <a:solidFill>
                  <a:schemeClr val="dk1"/>
                </a:solidFill>
              </a:rPr>
              <a:t>Research</a:t>
            </a:r>
            <a:r>
              <a:rPr lang="en-US" sz="2400" dirty="0" err="1">
                <a:solidFill>
                  <a:schemeClr val="dk1"/>
                </a:solidFill>
              </a:rPr>
              <a:t>Python</a:t>
            </a:r>
            <a:endParaRPr lang="en-US" sz="2400" b="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1A975DA-D349-02A6-35E3-7E02DA692663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0" y="1882833"/>
            <a:ext cx="5049982" cy="445562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2500"/>
              </a:spcBef>
              <a:buFont typeface="Arial"/>
              <a:buNone/>
            </a:pPr>
            <a:r>
              <a:rPr lang="en-US" b="1" dirty="0" err="1"/>
              <a:t>Monorepo</a:t>
            </a:r>
            <a:r>
              <a:rPr lang="en-US" b="1" dirty="0"/>
              <a:t> Large-scale Management</a:t>
            </a:r>
          </a:p>
          <a:p>
            <a:pPr marL="0" lvl="1" indent="0">
              <a:lnSpc>
                <a:spcPct val="90000"/>
              </a:lnSpc>
              <a:buFont typeface="Arial"/>
              <a:buNone/>
            </a:pPr>
            <a:r>
              <a:rPr lang="en-US" dirty="0"/>
              <a:t>Large-scale </a:t>
            </a:r>
            <a:r>
              <a:rPr lang="en-US" dirty="0" err="1"/>
              <a:t>monorepo</a:t>
            </a:r>
            <a:r>
              <a:rPr lang="en-US" dirty="0"/>
              <a:t> management involves centralized build systems to handle interdependencies and reduce merge conflicts effectively.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buFont typeface="Arial"/>
              <a:buNone/>
            </a:pPr>
            <a:r>
              <a:rPr lang="en-US" b="1" dirty="0"/>
              <a:t>Python Packaging Standards</a:t>
            </a:r>
          </a:p>
          <a:p>
            <a:pPr marL="0" lvl="1" indent="0">
              <a:lnSpc>
                <a:spcPct val="90000"/>
              </a:lnSpc>
              <a:buFont typeface="Arial"/>
              <a:buNone/>
            </a:pPr>
            <a:r>
              <a:rPr lang="en-US" dirty="0"/>
              <a:t>Python packaging uses semantic versioning and build standards outlined in PEP 440, 517, and 518 to ensure consistent dependency resolution.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buFont typeface="Arial"/>
              <a:buNone/>
            </a:pPr>
            <a:r>
              <a:rPr lang="en-US" b="1" dirty="0"/>
              <a:t>CI/CD Build Reproducibility</a:t>
            </a:r>
          </a:p>
          <a:p>
            <a:pPr marL="0" lvl="1" indent="0">
              <a:lnSpc>
                <a:spcPct val="90000"/>
              </a:lnSpc>
              <a:buFont typeface="Arial"/>
              <a:buNone/>
            </a:pPr>
            <a:r>
              <a:rPr lang="en-US" dirty="0"/>
              <a:t>Reproducible CI/CD builds address non-deterministic dependency resolution and focus on version consistency to prevent build failures.</a:t>
            </a:r>
          </a:p>
        </p:txBody>
      </p:sp>
      <p:pic>
        <p:nvPicPr>
          <p:cNvPr id="4" name="Content Placeholder 4" descr="Laptop with error message and IT support">
            <a:extLst>
              <a:ext uri="{FF2B5EF4-FFF2-40B4-BE49-F238E27FC236}">
                <a16:creationId xmlns:a16="http://schemas.microsoft.com/office/drawing/2014/main" id="{D47D3DBB-F4D1-1267-56BD-0459EA845C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98" r="27258" b="-3"/>
          <a:stretch>
            <a:fillRect/>
          </a:stretch>
        </p:blipFill>
        <p:spPr>
          <a:xfrm>
            <a:off x="5000561" y="816245"/>
            <a:ext cx="4143439" cy="59170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2587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6BCC3-D43B-F1CE-3BA4-D0577E159D9F}"/>
              </a:ext>
            </a:extLst>
          </p:cNvPr>
          <p:cNvSpPr txBox="1">
            <a:spLocks/>
          </p:cNvSpPr>
          <p:nvPr/>
        </p:nvSpPr>
        <p:spPr>
          <a:xfrm>
            <a:off x="822129" y="1147157"/>
            <a:ext cx="6738296" cy="524860"/>
          </a:xfrm>
          <a:prstGeom prst="rect">
            <a:avLst/>
          </a:prstGeom>
        </p:spPr>
        <p:txBody>
          <a:bodyPr anchor="t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900" dirty="0"/>
              <a:t>Architecture of the Centralized Version Orchestration Framework</a:t>
            </a:r>
          </a:p>
        </p:txBody>
      </p:sp>
      <p:pic>
        <p:nvPicPr>
          <p:cNvPr id="3" name="Content Placeholder 4" descr="3d flow chart.">
            <a:extLst>
              <a:ext uri="{FF2B5EF4-FFF2-40B4-BE49-F238E27FC236}">
                <a16:creationId xmlns:a16="http://schemas.microsoft.com/office/drawing/2014/main" id="{AA24A67E-4C16-104E-B5F7-25BDEB461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7" y="2549824"/>
            <a:ext cx="4410110" cy="220505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F98F44-1987-CBAC-602E-9F6CD5B8E0FE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671405" y="1798196"/>
            <a:ext cx="4251961" cy="4822892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/>
              <a:t>Repository-Level Version Control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200" dirty="0"/>
              <a:t>A single VERSION file acts as the authoritative source for package versions, protected by CODEOWNERS for controlled updates.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/>
              <a:t>Sentinel Version Metadata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200" dirty="0"/>
              <a:t>Packages use a sentinel version, like 0.0.0.dev0, to prevent accidental publishing of stale or inconsistent versions.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/>
              <a:t>CI/CD Integration and Version Injection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200" dirty="0"/>
              <a:t>The pipeline injects release versions into package metadata during builds without modifying source control, using a lightweight Python script.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200" b="1" dirty="0"/>
              <a:t>Dependency Synchronization Engine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200" dirty="0"/>
              <a:t>Dependency graph and cycle detection replace path dependencies with exact versions to ensure valid, deterministic builds.</a:t>
            </a:r>
          </a:p>
        </p:txBody>
      </p:sp>
    </p:spTree>
    <p:extLst>
      <p:ext uri="{BB962C8B-B14F-4D97-AF65-F5344CB8AC3E}">
        <p14:creationId xmlns:p14="http://schemas.microsoft.com/office/powerpoint/2010/main" val="105827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38DD4-E699-9579-C731-F4D5B66B3A64}"/>
              </a:ext>
            </a:extLst>
          </p:cNvPr>
          <p:cNvSpPr txBox="1">
            <a:spLocks/>
          </p:cNvSpPr>
          <p:nvPr/>
        </p:nvSpPr>
        <p:spPr>
          <a:xfrm>
            <a:off x="315711" y="1217814"/>
            <a:ext cx="5861304" cy="907440"/>
          </a:xfrm>
          <a:prstGeom prst="rect">
            <a:avLst/>
          </a:prstGeom>
        </p:spPr>
        <p:txBody>
          <a:bodyPr anchor="t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 dirty="0"/>
              <a:t>Quantitative Impact on CI/CD Performance and Reliability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9759DF1-E48A-57AD-4E3E-1D9FEF0C2556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89867" y="1971502"/>
            <a:ext cx="5379166" cy="467868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Reduction in Merge Conflicts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dirty="0"/>
              <a:t>Version-related merge conflicts decreased from 14.7 to 3.4 per sprint, achieving an 87% improvement.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CI/CD Pipeline Performance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dirty="0"/>
              <a:t>Pipeline duration decreased by up to 36.3%, with dependency resolution time reduced by over 85%.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Enhanced Build Reproducibility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dirty="0"/>
              <a:t>Build reproducibility increased from 70.4% to over 98.4%, exceeding organizational goals.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Reliability and Scalability Gains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dirty="0"/>
              <a:t>Dependency failures dropped by 89.5%, validating framework scalability across large </a:t>
            </a:r>
            <a:r>
              <a:rPr lang="en-US" dirty="0" err="1"/>
              <a:t>monorepos</a:t>
            </a:r>
            <a:r>
              <a:rPr lang="en-US" dirty="0"/>
              <a:t>.</a:t>
            </a:r>
          </a:p>
        </p:txBody>
      </p:sp>
      <p:pic>
        <p:nvPicPr>
          <p:cNvPr id="4" name="Content Placeholder 4" descr="technology and innovation concept">
            <a:extLst>
              <a:ext uri="{FF2B5EF4-FFF2-40B4-BE49-F238E27FC236}">
                <a16:creationId xmlns:a16="http://schemas.microsoft.com/office/drawing/2014/main" id="{E4CF644E-3939-B9CF-3BA1-3C9422B8B4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384" r="28666" b="1"/>
          <a:stretch>
            <a:fillRect/>
          </a:stretch>
        </p:blipFill>
        <p:spPr>
          <a:xfrm>
            <a:off x="6177015" y="1535701"/>
            <a:ext cx="2966985" cy="5180984"/>
          </a:xfrm>
          <a:custGeom>
            <a:avLst/>
            <a:gdLst>
              <a:gd name="connsiteX0" fmla="*/ 501522 w 3493014"/>
              <a:gd name="connsiteY0" fmla="*/ 0 h 6099541"/>
              <a:gd name="connsiteX1" fmla="*/ 3493014 w 3493014"/>
              <a:gd name="connsiteY1" fmla="*/ 0 h 6099541"/>
              <a:gd name="connsiteX2" fmla="*/ 3493014 w 3493014"/>
              <a:gd name="connsiteY2" fmla="*/ 6099541 h 6099541"/>
              <a:gd name="connsiteX3" fmla="*/ 0 w 3493014"/>
              <a:gd name="connsiteY3" fmla="*/ 6099541 h 6099541"/>
              <a:gd name="connsiteX4" fmla="*/ 0 w 3493014"/>
              <a:gd name="connsiteY4" fmla="*/ 501522 h 6099541"/>
              <a:gd name="connsiteX5" fmla="*/ 501522 w 3493014"/>
              <a:gd name="connsiteY5" fmla="*/ 0 h 609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3014" h="6099541">
                <a:moveTo>
                  <a:pt x="501522" y="0"/>
                </a:moveTo>
                <a:lnTo>
                  <a:pt x="3493014" y="0"/>
                </a:lnTo>
                <a:lnTo>
                  <a:pt x="3493014" y="6099541"/>
                </a:lnTo>
                <a:lnTo>
                  <a:pt x="0" y="6099541"/>
                </a:lnTo>
                <a:lnTo>
                  <a:pt x="0" y="501522"/>
                </a:lnTo>
                <a:cubicBezTo>
                  <a:pt x="0" y="224539"/>
                  <a:pt x="224539" y="0"/>
                  <a:pt x="50152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8804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CA2B-7A9B-ADCD-722A-EBDB194BDB9B}"/>
              </a:ext>
            </a:extLst>
          </p:cNvPr>
          <p:cNvSpPr txBox="1">
            <a:spLocks/>
          </p:cNvSpPr>
          <p:nvPr/>
        </p:nvSpPr>
        <p:spPr>
          <a:xfrm>
            <a:off x="4156365" y="964276"/>
            <a:ext cx="4800600" cy="806284"/>
          </a:xfrm>
          <a:prstGeom prst="rect">
            <a:avLst/>
          </a:prstGeom>
        </p:spPr>
        <p:txBody>
          <a:bodyPr anchor="t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100" dirty="0"/>
              <a:t>Developer Productivity and Experience Improvements</a:t>
            </a:r>
          </a:p>
        </p:txBody>
      </p:sp>
      <p:pic>
        <p:nvPicPr>
          <p:cNvPr id="3" name="Content Placeholder 4" descr="Man using laptop computer">
            <a:extLst>
              <a:ext uri="{FF2B5EF4-FFF2-40B4-BE49-F238E27FC236}">
                <a16:creationId xmlns:a16="http://schemas.microsoft.com/office/drawing/2014/main" id="{A9A44767-05DE-ABE5-4058-227213B10A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51" r="13916" b="-2"/>
          <a:stretch>
            <a:fillRect/>
          </a:stretch>
        </p:blipFill>
        <p:spPr>
          <a:xfrm>
            <a:off x="11847" y="843740"/>
            <a:ext cx="3895007" cy="3628505"/>
          </a:xfrm>
          <a:custGeom>
            <a:avLst/>
            <a:gdLst>
              <a:gd name="connsiteX0" fmla="*/ 0 w 6548534"/>
              <a:gd name="connsiteY0" fmla="*/ 0 h 6100464"/>
              <a:gd name="connsiteX1" fmla="*/ 6548534 w 6548534"/>
              <a:gd name="connsiteY1" fmla="*/ 0 h 6100464"/>
              <a:gd name="connsiteX2" fmla="*/ 6548534 w 6548534"/>
              <a:gd name="connsiteY2" fmla="*/ 5595865 h 6100464"/>
              <a:gd name="connsiteX3" fmla="*/ 6047012 w 6548534"/>
              <a:gd name="connsiteY3" fmla="*/ 6100464 h 6100464"/>
              <a:gd name="connsiteX4" fmla="*/ 0 w 6548534"/>
              <a:gd name="connsiteY4" fmla="*/ 6100464 h 610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8534" h="6100464">
                <a:moveTo>
                  <a:pt x="0" y="0"/>
                </a:moveTo>
                <a:lnTo>
                  <a:pt x="6548534" y="0"/>
                </a:lnTo>
                <a:lnTo>
                  <a:pt x="6548534" y="5595865"/>
                </a:lnTo>
                <a:cubicBezTo>
                  <a:pt x="6548534" y="5874548"/>
                  <a:pt x="6323995" y="6100464"/>
                  <a:pt x="6047012" y="6100464"/>
                </a:cubicBezTo>
                <a:lnTo>
                  <a:pt x="0" y="6100464"/>
                </a:lnTo>
                <a:close/>
              </a:path>
            </a:pathLst>
          </a:cu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1E264-F8FC-6E4F-0726-88DF4C0FDEE5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156365" y="1803861"/>
            <a:ext cx="4630190" cy="425196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Enhanced Developer Experience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dirty="0"/>
              <a:t>Surveys show increased release confidence and reduced onboarding complexity after framework adoption.</a:t>
            </a:r>
          </a:p>
          <a:p>
            <a:pPr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Time and Effort Savings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dirty="0"/>
              <a:t>Monthly savings of 22 to 26 developer hours arise from fewer merge conflicts and streamlined version control.</a:t>
            </a:r>
          </a:p>
          <a:p>
            <a:pPr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Faster Release Cycles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dirty="0"/>
              <a:t>Release duration reduced by 46%, enabling more frequent and predictable feature delivery.</a:t>
            </a:r>
          </a:p>
        </p:txBody>
      </p:sp>
    </p:spTree>
    <p:extLst>
      <p:ext uri="{BB962C8B-B14F-4D97-AF65-F5344CB8AC3E}">
        <p14:creationId xmlns:p14="http://schemas.microsoft.com/office/powerpoint/2010/main" val="152958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09F90-D1B0-C911-951F-9A4C624E2A16}"/>
              </a:ext>
            </a:extLst>
          </p:cNvPr>
          <p:cNvSpPr txBox="1">
            <a:spLocks/>
          </p:cNvSpPr>
          <p:nvPr/>
        </p:nvSpPr>
        <p:spPr>
          <a:xfrm>
            <a:off x="386541" y="1126375"/>
            <a:ext cx="5823065" cy="911080"/>
          </a:xfrm>
          <a:prstGeom prst="rect">
            <a:avLst/>
          </a:prstGeom>
        </p:spPr>
        <p:txBody>
          <a:bodyPr anchor="t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 dirty="0"/>
              <a:t>Summary of Contributions and Practical Implications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06E2AC6-E371-DE26-9996-DA32428A2525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86541" y="1830185"/>
            <a:ext cx="8147304" cy="456645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Centralized Version Orchestration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dirty="0"/>
              <a:t>Centralized version orchestration improves management of large Python </a:t>
            </a:r>
            <a:r>
              <a:rPr lang="en-US" dirty="0" err="1"/>
              <a:t>monorepos</a:t>
            </a:r>
            <a:r>
              <a:rPr lang="en-US" dirty="0"/>
              <a:t> by decoupling version authority and enforcing CI/CD consistency.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Empirical Benefits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dirty="0"/>
              <a:t>Real-world data shows an 87% reduction in merge conflicts and up to 36% faster CI/CD pipelines, enhancing build reproducibility and reliability.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Developer Productivity and Reliability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dirty="0"/>
              <a:t>Developer surveys confirm increased productivity, release confidence, and velocity with minimal migration effort required for adoption.</a:t>
            </a:r>
          </a:p>
          <a:p>
            <a:pPr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Scalability and Practicality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dirty="0"/>
              <a:t>The framework offers a scalable, reliable, and low-overhead alternative to distributed semantic versioning for large scale </a:t>
            </a:r>
            <a:r>
              <a:rPr lang="en-US" dirty="0" err="1"/>
              <a:t>monorepos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3955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637</Words>
  <Application>Microsoft Office PowerPoint</Application>
  <PresentationFormat>On-screen Show (4:3)</PresentationFormat>
  <Paragraphs>70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 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Sharma, Divyanshu</cp:lastModifiedBy>
  <cp:revision>2</cp:revision>
  <dcterms:modified xsi:type="dcterms:W3CDTF">2026-04-29T16:20:44Z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8901aa-f724-46bf-bb4f-aef09392934b_Enabled">
    <vt:lpwstr>true</vt:lpwstr>
  </property>
  <property fmtid="{D5CDD505-2E9C-101B-9397-08002B2CF9AE}" pid="3" name="MSIP_Label_d38901aa-f724-46bf-bb4f-aef09392934b_SetDate">
    <vt:lpwstr>2026-04-26T10:17:25Z</vt:lpwstr>
  </property>
  <property fmtid="{D5CDD505-2E9C-101B-9397-08002B2CF9AE}" pid="4" name="MSIP_Label_d38901aa-f724-46bf-bb4f-aef09392934b_Method">
    <vt:lpwstr>Standard</vt:lpwstr>
  </property>
  <property fmtid="{D5CDD505-2E9C-101B-9397-08002B2CF9AE}" pid="5" name="MSIP_Label_d38901aa-f724-46bf-bb4f-aef09392934b_Name">
    <vt:lpwstr>Internal - No Label</vt:lpwstr>
  </property>
  <property fmtid="{D5CDD505-2E9C-101B-9397-08002B2CF9AE}" pid="6" name="MSIP_Label_d38901aa-f724-46bf-bb4f-aef09392934b_SiteId">
    <vt:lpwstr>eb06985d-06ca-4a17-81da-629ab99f6505</vt:lpwstr>
  </property>
  <property fmtid="{D5CDD505-2E9C-101B-9397-08002B2CF9AE}" pid="7" name="MSIP_Label_d38901aa-f724-46bf-bb4f-aef09392934b_ActionId">
    <vt:lpwstr>c0e2c131-af5f-4826-ba4f-20d2652ab214</vt:lpwstr>
  </property>
  <property fmtid="{D5CDD505-2E9C-101B-9397-08002B2CF9AE}" pid="8" name="MSIP_Label_d38901aa-f724-46bf-bb4f-aef09392934b_ContentBits">
    <vt:lpwstr>0</vt:lpwstr>
  </property>
  <property fmtid="{D5CDD505-2E9C-101B-9397-08002B2CF9AE}" pid="9" name="MSIP_Label_d38901aa-f724-46bf-bb4f-aef09392934b_Tag">
    <vt:lpwstr>10, 3, 0, 1</vt:lpwstr>
  </property>
</Properties>
</file>